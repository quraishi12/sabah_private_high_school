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15" autoAdjust="0"/>
    <p:restoredTop sz="94618" autoAdjust="0"/>
  </p:normalViewPr>
  <p:slideViewPr>
    <p:cSldViewPr>
      <p:cViewPr varScale="1">
        <p:scale>
          <a:sx n="82" d="100"/>
          <a:sy n="82" d="100"/>
        </p:scale>
        <p:origin x="12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>
            <a:extLst>
              <a:ext uri="{FF2B5EF4-FFF2-40B4-BE49-F238E27FC236}">
                <a16:creationId xmlns:a16="http://schemas.microsoft.com/office/drawing/2014/main" id="{819322FB-A933-BF38-CE35-4EAF5EA37D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E5B026BF-8C2C-C935-21DB-F830D10BB3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55332" name="Rectangle 4">
            <a:extLst>
              <a:ext uri="{FF2B5EF4-FFF2-40B4-BE49-F238E27FC236}">
                <a16:creationId xmlns:a16="http://schemas.microsoft.com/office/drawing/2014/main" id="{5A2F0E22-07A9-D7B9-BDCD-8A76C9DFBA3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5333" name="Rectangle 5">
            <a:extLst>
              <a:ext uri="{FF2B5EF4-FFF2-40B4-BE49-F238E27FC236}">
                <a16:creationId xmlns:a16="http://schemas.microsoft.com/office/drawing/2014/main" id="{6479AB82-72CD-8200-1E6D-9FD2912202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5334" name="Rectangle 6">
            <a:extLst>
              <a:ext uri="{FF2B5EF4-FFF2-40B4-BE49-F238E27FC236}">
                <a16:creationId xmlns:a16="http://schemas.microsoft.com/office/drawing/2014/main" id="{0639FB17-A4B8-5C1D-3A39-F1DB08B932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55335" name="Rectangle 7">
            <a:extLst>
              <a:ext uri="{FF2B5EF4-FFF2-40B4-BE49-F238E27FC236}">
                <a16:creationId xmlns:a16="http://schemas.microsoft.com/office/drawing/2014/main" id="{ACEC54CA-D12E-FBF9-1E84-95AC808435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8FE99C9-DFB8-4BD1-A9BC-AC0FE8BBD61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E667F8-1041-C5F4-C5F2-51A1B6AB85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18A63-4196-4003-909E-9C6DB874B4A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356354" name="Rectangle 2">
            <a:extLst>
              <a:ext uri="{FF2B5EF4-FFF2-40B4-BE49-F238E27FC236}">
                <a16:creationId xmlns:a16="http://schemas.microsoft.com/office/drawing/2014/main" id="{027D65EB-5D37-ABA3-F81C-DCF8D91EB9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109F96A3-7023-E058-9709-DB62F0F32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9AFBC4-E38B-F4DE-7DCB-A3838C3897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80FFC1-ABC1-4D0B-8E46-54FB83413D0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4C53FB63-A09D-32A9-9579-4E9A6EEC0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0A3CFA0D-466C-A43C-3D0F-A0BF4BA06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22125C-58E3-928B-5166-B06A44148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B34C4-A017-414A-879B-CBC4281CDBE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E9B86BA6-7639-FA54-C7ED-01829B9A4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D1CAD0-6469-0908-0130-F0BBE5D47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22125C-58E3-928B-5166-B06A44148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B34C4-A017-414A-879B-CBC4281CDBE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E9B86BA6-7639-FA54-C7ED-01829B9A4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D1CAD0-6469-0908-0130-F0BBE5D47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231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22125C-58E3-928B-5166-B06A44148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B34C4-A017-414A-879B-CBC4281CDBE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E9B86BA6-7639-FA54-C7ED-01829B9A4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D1CAD0-6469-0908-0130-F0BBE5D47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837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22125C-58E3-928B-5166-B06A44148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B34C4-A017-414A-879B-CBC4281CDBE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E9B86BA6-7639-FA54-C7ED-01829B9A4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D1CAD0-6469-0908-0130-F0BBE5D47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120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22125C-58E3-928B-5166-B06A44148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1B34C4-A017-414A-879B-CBC4281CDBE9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58402" name="Rectangle 2">
            <a:extLst>
              <a:ext uri="{FF2B5EF4-FFF2-40B4-BE49-F238E27FC236}">
                <a16:creationId xmlns:a16="http://schemas.microsoft.com/office/drawing/2014/main" id="{E9B86BA6-7639-FA54-C7ED-01829B9A4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C6D1CAD0-6469-0908-0130-F0BBE5D47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59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6A1C9C-221C-DBE0-F7B3-A6611FD092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913" y="5300663"/>
            <a:ext cx="6048375" cy="750887"/>
          </a:xfrm>
        </p:spPr>
        <p:txBody>
          <a:bodyPr/>
          <a:lstStyle>
            <a:lvl1pPr>
              <a:defRPr sz="2800" b="1"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ru-RU" altLang="en-US" noProof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795BB1E-AB5B-15CA-AB4A-3C362D1755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1913" y="6021388"/>
            <a:ext cx="6048375" cy="503237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FontTx/>
              <a:buNone/>
              <a:defRPr sz="2400" b="1"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ru-RU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B4AE-13BC-CC67-AEB5-C30D05B89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680D-D073-2E74-2E11-8B40CFAF3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139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4F55-A63F-8AE9-B9AE-C37A5FF6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80606-50AA-FB39-7B5F-33764D2CD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82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F729-1682-A08E-D45B-84FDC94C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4A99-106E-17BB-C48D-F8599D21D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7813" y="908050"/>
            <a:ext cx="3127375" cy="5543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4E6E4-FD9B-1725-B46C-BDEE6A064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7588" y="908050"/>
            <a:ext cx="3128962" cy="5543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92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9972B-0354-5F54-5BEC-B7935A9F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8119-C82A-F985-1F20-EC76A2C97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39BBF-2952-51EB-D226-D3773845E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E94FE-5642-1442-6AE7-921CD50E4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8BEE8-27E7-0623-9F76-E87259CED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227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8E46-20C6-5016-43BD-57762A8F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155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11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B9F3-DDD2-042F-01C8-242E5185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43BA1-DECB-B5E8-FCBD-B9628969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008A1-FCE6-373B-2DCA-7D93E159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67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5E47-803E-2798-8CC3-43120F7A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100D5-4AD1-B3E3-35B9-1584877A5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71C8B-F8D5-C758-90E6-871909EFD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02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D2F2-4E33-721A-0EFC-11CE98CB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4F49F-434F-C28A-9022-A13E816CC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92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1ECA0-F784-8882-7B4D-B2AD89F75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54763" y="333375"/>
            <a:ext cx="1601787" cy="6118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895C2-7E4E-93F1-7172-024F4F9B0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47813" y="333375"/>
            <a:ext cx="4654550" cy="6118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121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E0C234-0FAF-5C63-7C4D-58F9E6A4E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333375"/>
            <a:ext cx="56165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ru-RU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0DC00D-326E-C987-A5B2-FDFAE9983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47813" y="908050"/>
            <a:ext cx="640873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98B40E2-1EBB-A34D-54DC-A26A267654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55875" y="5589588"/>
            <a:ext cx="4175125" cy="504825"/>
          </a:xfrm>
          <a:noFill/>
        </p:spPr>
        <p:txBody>
          <a:bodyPr/>
          <a:lstStyle/>
          <a:p>
            <a:pPr algn="ctr"/>
            <a:r>
              <a:rPr lang="prs-AF" altLang="en-US" dirty="0">
                <a:latin typeface="Tahoma" panose="020B0604030504040204" pitchFamily="34" charset="0"/>
              </a:rPr>
              <a:t>دریا ها و جهیل های افغانستان</a:t>
            </a:r>
            <a:endParaRPr lang="uk-UA" altLang="en-US" dirty="0">
              <a:latin typeface="Tahoma" panose="020B0604030504040204" pitchFamily="34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F48120E-8A45-200F-4E0D-41F6261308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98750" y="6164263"/>
            <a:ext cx="3852863" cy="274637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prs-AF" altLang="en-US" dirty="0"/>
              <a:t>سیف الرحمن قریشی</a:t>
            </a:r>
            <a:endParaRPr lang="uk-UA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98B02E8-C549-75E3-1D06-B85038823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7813" y="549275"/>
            <a:ext cx="6840537" cy="649288"/>
          </a:xfrm>
        </p:spPr>
        <p:txBody>
          <a:bodyPr/>
          <a:lstStyle/>
          <a:p>
            <a:pPr algn="r" rtl="1"/>
            <a:r>
              <a:rPr lang="prs-AF" altLang="en-US" sz="2800" b="1" dirty="0">
                <a:latin typeface="Tahoma" panose="020B0604030504040204" pitchFamily="34" charset="0"/>
              </a:rPr>
              <a:t>دریاهای افغانستان به حيث منابع زراعتي و توليد انرژی </a:t>
            </a:r>
            <a:endParaRPr lang="uk-UA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6724E31-2C25-FF40-C6C9-28ABD4F9E6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412875"/>
            <a:ext cx="7775575" cy="5146675"/>
          </a:xfrm>
        </p:spPr>
        <p:txBody>
          <a:bodyPr/>
          <a:lstStyle/>
          <a:p>
            <a:pPr algn="r" rtl="1">
              <a:lnSpc>
                <a:spcPct val="80000"/>
              </a:lnSpc>
            </a:pPr>
            <a:r>
              <a:rPr lang="prs-AF" altLang="en-US" sz="2400" dirty="0"/>
              <a:t>در درس کوه هاخواندیم که در بسیاری از کوه های بلند کشور ما، برفهای دایمی وجود دارد. </a:t>
            </a:r>
          </a:p>
          <a:p>
            <a:pPr algn="r" rtl="1">
              <a:lnSpc>
                <a:spcPct val="80000"/>
              </a:lnSpc>
            </a:pPr>
            <a:r>
              <a:rPr lang="prs-AF" altLang="en-US" sz="2400" dirty="0"/>
              <a:t>این برف ها در فصل گرمای سال آب شده منبع آب دریاها را میسازند. دریا ُ ها در سرچشمه خود خرد بوده وآب کمی دارند. در مسیر راه آب چندین دره با هم یکجا شده، دریا بزرگتر شده میرود. </a:t>
            </a:r>
          </a:p>
          <a:p>
            <a:pPr algn="r" rtl="1">
              <a:lnSpc>
                <a:spcPct val="80000"/>
              </a:lnSpc>
            </a:pPr>
            <a:r>
              <a:rPr lang="prs-AF" altLang="en-US" sz="2400" dirty="0"/>
              <a:t>علمای جغرافیه، افغانستان را از لحاظ جریان آبهای جاری به 5 حوزه آبگیر تقسیم نمودهاند که عبارت اند از:</a:t>
            </a:r>
          </a:p>
          <a:p>
            <a:pPr marL="914400" lvl="1" indent="-457200" algn="r" rtl="1">
              <a:lnSpc>
                <a:spcPct val="80000"/>
              </a:lnSpc>
              <a:buFont typeface="+mj-lt"/>
              <a:buAutoNum type="arabicPeriod"/>
            </a:pPr>
            <a:r>
              <a:rPr lang="prs-AF" altLang="en-US" sz="2000" dirty="0"/>
              <a:t> دریاهای حوزۀ کابل</a:t>
            </a:r>
          </a:p>
          <a:p>
            <a:pPr marL="914400" lvl="1" indent="-457200" algn="r" rtl="1">
              <a:lnSpc>
                <a:spcPct val="80000"/>
              </a:lnSpc>
              <a:buFont typeface="+mj-lt"/>
              <a:buAutoNum type="arabicPeriod"/>
            </a:pPr>
            <a:r>
              <a:rPr lang="prs-AF" altLang="en-US" sz="2000" dirty="0"/>
              <a:t>دریاهای حوزۀ آمو</a:t>
            </a:r>
          </a:p>
          <a:p>
            <a:pPr marL="914400" lvl="1" indent="-457200" algn="r" rtl="1">
              <a:lnSpc>
                <a:spcPct val="80000"/>
              </a:lnSpc>
              <a:buFont typeface="+mj-lt"/>
              <a:buAutoNum type="arabicPeriod"/>
            </a:pPr>
            <a:r>
              <a:rPr lang="prs-AF" altLang="en-US" sz="2000" dirty="0"/>
              <a:t>دریاهای حوزۀ هلمند </a:t>
            </a:r>
          </a:p>
          <a:p>
            <a:pPr marL="914400" lvl="1" indent="-457200" algn="r" rtl="1">
              <a:lnSpc>
                <a:spcPct val="80000"/>
              </a:lnSpc>
              <a:buFont typeface="+mj-lt"/>
              <a:buAutoNum type="arabicPeriod"/>
            </a:pPr>
            <a:r>
              <a:rPr lang="prs-AF" altLang="en-US" sz="2000" dirty="0"/>
              <a:t> دریاهای حوزۀ هریرود</a:t>
            </a:r>
          </a:p>
          <a:p>
            <a:pPr marL="914400" lvl="1" indent="-457200" algn="r" rtl="1">
              <a:lnSpc>
                <a:spcPct val="80000"/>
              </a:lnSpc>
              <a:buFont typeface="+mj-lt"/>
              <a:buAutoNum type="arabicPeriod"/>
            </a:pPr>
            <a:r>
              <a:rPr lang="prs-AF" altLang="en-US" sz="2000" dirty="0"/>
              <a:t>دریاهای حوزههای بسته</a:t>
            </a:r>
            <a:endParaRPr lang="uk-UA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7FE9081-8244-2688-34E4-2059CFA6F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algn="r" rtl="1"/>
            <a:r>
              <a:rPr lang="prs-AF" altLang="en-US" b="1" dirty="0">
                <a:solidFill>
                  <a:schemeClr val="tx1"/>
                </a:solidFill>
              </a:rPr>
              <a:t> دریاهای حوزۀ کابل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242EE83C-6782-1D93-1AF2-725040BD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175" y="909638"/>
            <a:ext cx="7056438" cy="5832475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بزرگترین دریای این حوزه </a:t>
            </a:r>
            <a:r>
              <a:rPr lang="prs-AF" altLang="en-US" sz="2400" b="1" dirty="0">
                <a:solidFill>
                  <a:schemeClr val="bg2"/>
                </a:solidFill>
              </a:rPr>
              <a:t>دریای کابل </a:t>
            </a:r>
            <a:r>
              <a:rPr lang="prs-AF" altLang="en-US" sz="2400" dirty="0">
                <a:solidFill>
                  <a:schemeClr val="bg2"/>
                </a:solidFill>
              </a:rPr>
              <a:t>است که از </a:t>
            </a:r>
            <a:r>
              <a:rPr lang="prs-AF" altLang="en-US" sz="2400" b="1" dirty="0">
                <a:solidFill>
                  <a:schemeClr val="bg2"/>
                </a:solidFill>
              </a:rPr>
              <a:t>کوتل اونی کوه پغمان </a:t>
            </a:r>
            <a:r>
              <a:rPr lang="prs-AF" altLang="en-US" sz="2400" dirty="0">
                <a:solidFill>
                  <a:schemeClr val="bg2"/>
                </a:solidFill>
              </a:rPr>
              <a:t>سرچشمه گرفته از </a:t>
            </a:r>
            <a:r>
              <a:rPr lang="prs-AF" altLang="en-US" sz="2400" b="1" dirty="0">
                <a:solidFill>
                  <a:schemeClr val="bg2"/>
                </a:solidFill>
              </a:rPr>
              <a:t>غرب به طرف شرق </a:t>
            </a:r>
            <a:r>
              <a:rPr lang="prs-AF" altLang="en-US" sz="2400" dirty="0">
                <a:solidFill>
                  <a:schemeClr val="bg2"/>
                </a:solidFill>
              </a:rPr>
              <a:t>جریان دارد. از </a:t>
            </a:r>
            <a:r>
              <a:rPr lang="prs-AF" altLang="en-US" sz="2400" b="1" dirty="0">
                <a:solidFill>
                  <a:schemeClr val="bg2"/>
                </a:solidFill>
              </a:rPr>
              <a:t>شهرکابل، ولایت لغمان و ننگرهار </a:t>
            </a:r>
            <a:r>
              <a:rPr lang="prs-AF" altLang="en-US" sz="2400" dirty="0">
                <a:solidFill>
                  <a:schemeClr val="bg2"/>
                </a:solidFill>
              </a:rPr>
              <a:t>گذشته، در قسمت اتک پاکستان به </a:t>
            </a:r>
            <a:r>
              <a:rPr lang="prs-AF" altLang="en-US" sz="2400" b="1" dirty="0">
                <a:solidFill>
                  <a:schemeClr val="bg2"/>
                </a:solidFill>
              </a:rPr>
              <a:t>دریای سند </a:t>
            </a:r>
            <a:r>
              <a:rPr lang="prs-AF" altLang="en-US" sz="2400" dirty="0">
                <a:solidFill>
                  <a:schemeClr val="bg2"/>
                </a:solidFill>
              </a:rPr>
              <a:t>میریزد.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معاونین دریای کابل عبارت اند از: </a:t>
            </a:r>
          </a:p>
          <a:p>
            <a:pPr marL="1371600" lvl="2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دریای لوگر</a:t>
            </a:r>
          </a:p>
          <a:p>
            <a:pPr marL="1371600" lvl="2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، پنجشیر</a:t>
            </a:r>
          </a:p>
          <a:p>
            <a:pPr marL="1371600" lvl="2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 لغمان</a:t>
            </a:r>
          </a:p>
          <a:p>
            <a:pPr marL="1371600" lvl="2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 دریای کنر</a:t>
            </a:r>
          </a:p>
          <a:p>
            <a:pPr lvl="1" algn="r" rtl="1">
              <a:buFont typeface="Wingdings" panose="05000000000000000000" pitchFamily="2" charset="2"/>
              <a:buChar char="ü"/>
            </a:pPr>
            <a:r>
              <a:rPr lang="prs-AF" altLang="en-US" b="0" dirty="0">
                <a:solidFill>
                  <a:schemeClr val="bg2"/>
                </a:solidFill>
              </a:rPr>
              <a:t>از آب دریای کابل در آبیاری زمین های زراعتی استفاده میشود. </a:t>
            </a:r>
          </a:p>
          <a:p>
            <a:pPr lvl="1" algn="r" rtl="1">
              <a:buFont typeface="Wingdings" panose="05000000000000000000" pitchFamily="2" charset="2"/>
              <a:buChar char="ü"/>
            </a:pPr>
            <a:r>
              <a:rPr lang="prs-AF" altLang="en-US" b="0" dirty="0">
                <a:solidFill>
                  <a:schemeClr val="bg2"/>
                </a:solidFill>
              </a:rPr>
              <a:t>بندهای برق ماهیپر، نغلو، سروبی و درونته در مسیر آن ساخته شده که از برق آنها برای تنویر شهرهای کابل ، جاللآباد و لغمان استفاده میشود.</a:t>
            </a:r>
          </a:p>
          <a:p>
            <a:pPr algn="r" rtl="1"/>
            <a:endParaRPr lang="en-US" altLang="en-US" sz="2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7FE9081-8244-2688-34E4-2059CFA6F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algn="r" rtl="1"/>
            <a:r>
              <a:rPr lang="prs-AF" altLang="en-US" b="1" dirty="0">
                <a:solidFill>
                  <a:schemeClr val="tx1"/>
                </a:solidFill>
              </a:rPr>
              <a:t> دریاهای حوزۀ آمو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242EE83C-6782-1D93-1AF2-725040BD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175" y="909638"/>
            <a:ext cx="7056438" cy="5832475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b="1" dirty="0">
                <a:solidFill>
                  <a:schemeClr val="bg2"/>
                </a:solidFill>
              </a:rPr>
              <a:t>دریای آمو که یونانیها </a:t>
            </a:r>
            <a:r>
              <a:rPr lang="prs-AF" altLang="en-US" sz="2400" dirty="0">
                <a:solidFill>
                  <a:schemeClr val="bg2"/>
                </a:solidFill>
              </a:rPr>
              <a:t>آن را به </a:t>
            </a:r>
            <a:r>
              <a:rPr lang="prs-AF" altLang="en-US" sz="2400" b="1" dirty="0">
                <a:solidFill>
                  <a:schemeClr val="bg2"/>
                </a:solidFill>
              </a:rPr>
              <a:t>نام اکسوس </a:t>
            </a:r>
            <a:r>
              <a:rPr lang="prs-AF" altLang="en-US" sz="2400" dirty="0">
                <a:solidFill>
                  <a:schemeClr val="bg2"/>
                </a:solidFill>
              </a:rPr>
              <a:t>و </a:t>
            </a:r>
            <a:r>
              <a:rPr lang="prs-AF" altLang="en-US" sz="2400" b="1" dirty="0">
                <a:solidFill>
                  <a:schemeClr val="bg2"/>
                </a:solidFill>
              </a:rPr>
              <a:t>عربها</a:t>
            </a:r>
            <a:r>
              <a:rPr lang="prs-AF" altLang="en-US" sz="2400" dirty="0">
                <a:solidFill>
                  <a:schemeClr val="bg2"/>
                </a:solidFill>
              </a:rPr>
              <a:t> آن را به نام </a:t>
            </a:r>
            <a:r>
              <a:rPr lang="prs-AF" altLang="en-US" sz="2400" b="1" dirty="0">
                <a:solidFill>
                  <a:schemeClr val="bg2"/>
                </a:solidFill>
              </a:rPr>
              <a:t>جیحون</a:t>
            </a:r>
            <a:r>
              <a:rPr lang="prs-AF" altLang="en-US" sz="2400" dirty="0">
                <a:solidFill>
                  <a:schemeClr val="bg2"/>
                </a:solidFill>
              </a:rPr>
              <a:t> یاد کرده اند، بزرگترین دریای این حوزه می ُ باشد، که از </a:t>
            </a:r>
            <a:r>
              <a:rPr lang="prs-AF" altLang="en-US" sz="2400" b="1" dirty="0">
                <a:solidFill>
                  <a:schemeClr val="bg2"/>
                </a:solidFill>
              </a:rPr>
              <a:t>پامیر خرد </a:t>
            </a:r>
            <a:r>
              <a:rPr lang="prs-AF" altLang="en-US" sz="2400" dirty="0">
                <a:solidFill>
                  <a:schemeClr val="bg2"/>
                </a:solidFill>
              </a:rPr>
              <a:t>سرچشمه گرفته و در </a:t>
            </a:r>
            <a:r>
              <a:rPr lang="prs-AF" altLang="en-US" sz="2400" b="1" dirty="0">
                <a:solidFill>
                  <a:schemeClr val="bg2"/>
                </a:solidFill>
              </a:rPr>
              <a:t>جهیل ارال </a:t>
            </a:r>
            <a:r>
              <a:rPr lang="prs-AF" altLang="en-US" sz="2400" dirty="0">
                <a:solidFill>
                  <a:schemeClr val="bg2"/>
                </a:solidFill>
              </a:rPr>
              <a:t>میریزد.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این دریا از </a:t>
            </a:r>
            <a:r>
              <a:rPr lang="prs-AF" altLang="en-US" sz="2400" b="1" dirty="0">
                <a:solidFill>
                  <a:schemeClr val="bg2"/>
                </a:solidFill>
              </a:rPr>
              <a:t>زرقول تا خمآب </a:t>
            </a:r>
            <a:r>
              <a:rPr lang="prs-AF" altLang="en-US" sz="2400" dirty="0">
                <a:solidFill>
                  <a:schemeClr val="bg2"/>
                </a:solidFill>
              </a:rPr>
              <a:t>به طول 1200 کیلومتر </a:t>
            </a:r>
            <a:r>
              <a:rPr lang="prs-AF" altLang="en-US" sz="2400" b="1" dirty="0">
                <a:solidFill>
                  <a:schemeClr val="bg2"/>
                </a:solidFill>
              </a:rPr>
              <a:t>سرحد طبیعی </a:t>
            </a:r>
            <a:r>
              <a:rPr lang="prs-AF" altLang="en-US" sz="2400" dirty="0">
                <a:solidFill>
                  <a:schemeClr val="bg2"/>
                </a:solidFill>
              </a:rPr>
              <a:t>بین افغانستان و جمهوری های </a:t>
            </a:r>
            <a:r>
              <a:rPr lang="prs-AF" altLang="en-US" sz="2400" b="1" dirty="0">
                <a:solidFill>
                  <a:schemeClr val="bg2"/>
                </a:solidFill>
              </a:rPr>
              <a:t>تاجکستان، ازبکستان و ترکمنستان </a:t>
            </a:r>
            <a:r>
              <a:rPr lang="prs-AF" altLang="en-US" sz="2400" dirty="0">
                <a:solidFill>
                  <a:schemeClr val="bg2"/>
                </a:solidFill>
              </a:rPr>
              <a:t>را تشکیل میدهد.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معاونین دریای آمو عبارت اند از: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دریاه کندز 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 کوکچه </a:t>
            </a:r>
            <a:endParaRPr lang="prs-AF" altLang="en-US" sz="2000" b="0" dirty="0">
              <a:solidFill>
                <a:schemeClr val="bg2"/>
              </a:solidFill>
            </a:endParaRP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 از آب دریای در خاك افغانستان بلند است، استفاده نمیشود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89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7FE9081-8244-2688-34E4-2059CFA6F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algn="r" rtl="1"/>
            <a:r>
              <a:rPr lang="prs-AF" altLang="en-US" b="1" dirty="0">
                <a:solidFill>
                  <a:schemeClr val="tx1"/>
                </a:solidFill>
              </a:rPr>
              <a:t>دریاهای حوزۀ هلمند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242EE83C-6782-1D93-1AF2-725040BD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175" y="909638"/>
            <a:ext cx="7056438" cy="5832475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بزرگترین و طویلترین دریای افغانستان دریای هلمند است.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ه از دامنه های غربی کوتل اونی کوه پغمان سرچشمه گرفته به طرف جنوبغرب جریان دارد.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طول آن 1400کیلومتر است.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معاونین دریای کابل عبارت اند از: 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دریاه موسی قلعه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دریاه ارغنداب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دریاه ترنک</a:t>
            </a:r>
          </a:p>
          <a:p>
            <a:pPr marL="85725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دریاه ارغستان </a:t>
            </a:r>
          </a:p>
          <a:p>
            <a:pPr marL="400050" lvl="1" indent="0" algn="r" rtl="1">
              <a:buNone/>
            </a:pPr>
            <a:endParaRPr lang="prs-AF" altLang="en-US" sz="2000" dirty="0">
              <a:solidFill>
                <a:schemeClr val="bg2"/>
              </a:solidFill>
            </a:endParaRPr>
          </a:p>
          <a:p>
            <a:pPr algn="r" rtl="1">
              <a:buFont typeface="Wingdings" panose="05000000000000000000" pitchFamily="2" charset="2"/>
              <a:buChar char="ü"/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DFE08-A9BB-07FF-5D3F-9ED8F57DC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769" y="3200400"/>
            <a:ext cx="4448796" cy="3213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655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7FE9081-8244-2688-34E4-2059CFA6F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algn="r" rtl="1"/>
            <a:r>
              <a:rPr lang="prs-AF" altLang="en-US" b="1" dirty="0">
                <a:solidFill>
                  <a:schemeClr val="tx1"/>
                </a:solidFill>
              </a:rPr>
              <a:t>دریاهای حوزۀ هریرود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242EE83C-6782-1D93-1AF2-725040BD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175" y="909638"/>
            <a:ext cx="7056438" cy="5832475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مهمترین دریای این حوزه، </a:t>
            </a:r>
            <a:r>
              <a:rPr lang="prs-AF" altLang="en-US" sz="2400" b="1" dirty="0">
                <a:solidFill>
                  <a:schemeClr val="bg2"/>
                </a:solidFill>
              </a:rPr>
              <a:t>هریرود </a:t>
            </a:r>
            <a:r>
              <a:rPr lang="prs-AF" altLang="en-US" sz="2400" dirty="0">
                <a:solidFill>
                  <a:schemeClr val="bg2"/>
                </a:solidFill>
              </a:rPr>
              <a:t>است که از </a:t>
            </a:r>
            <a:r>
              <a:rPr lang="prs-AF" altLang="en-US" sz="2400" b="1" dirty="0">
                <a:solidFill>
                  <a:schemeClr val="bg2"/>
                </a:solidFill>
              </a:rPr>
              <a:t>غرب کوه بابا </a:t>
            </a:r>
            <a:r>
              <a:rPr lang="prs-AF" altLang="en-US" sz="2400" dirty="0">
                <a:solidFill>
                  <a:schemeClr val="bg2"/>
                </a:solidFill>
              </a:rPr>
              <a:t>سرچشمه گرفته از</a:t>
            </a:r>
            <a:r>
              <a:rPr lang="prs-AF" altLang="en-US" sz="2400" b="1" dirty="0">
                <a:solidFill>
                  <a:schemeClr val="bg2"/>
                </a:solidFill>
              </a:rPr>
              <a:t> شرق به طرف غرب </a:t>
            </a:r>
            <a:r>
              <a:rPr lang="prs-AF" altLang="en-US" sz="2400" dirty="0">
                <a:solidFill>
                  <a:schemeClr val="bg2"/>
                </a:solidFill>
              </a:rPr>
              <a:t>جریان دارد. 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این دریا از </a:t>
            </a:r>
            <a:r>
              <a:rPr lang="prs-AF" altLang="en-US" sz="2400" b="1" dirty="0">
                <a:solidFill>
                  <a:schemeClr val="bg2"/>
                </a:solidFill>
              </a:rPr>
              <a:t>اسلام قلعه تا ذوالفقار</a:t>
            </a:r>
            <a:r>
              <a:rPr lang="prs-AF" altLang="en-US" sz="2400" dirty="0">
                <a:solidFill>
                  <a:schemeClr val="bg2"/>
                </a:solidFill>
              </a:rPr>
              <a:t> سرحد طبیعی بین </a:t>
            </a:r>
            <a:r>
              <a:rPr lang="prs-AF" altLang="en-US" sz="2400" b="1" dirty="0">
                <a:solidFill>
                  <a:schemeClr val="bg2"/>
                </a:solidFill>
              </a:rPr>
              <a:t>افغانستان و ایران</a:t>
            </a:r>
            <a:r>
              <a:rPr lang="prs-AF" altLang="en-US" sz="2400" dirty="0">
                <a:solidFill>
                  <a:schemeClr val="bg2"/>
                </a:solidFill>
              </a:rPr>
              <a:t> را تشکیل میدهد. 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هریرود در مسیر خود </a:t>
            </a:r>
            <a:r>
              <a:rPr lang="prs-AF" altLang="en-US" sz="2400" b="1" dirty="0">
                <a:solidFill>
                  <a:schemeClr val="bg2"/>
                </a:solidFill>
              </a:rPr>
              <a:t>ولایت هرات </a:t>
            </a:r>
            <a:r>
              <a:rPr lang="prs-AF" altLang="en-US" sz="2400" dirty="0">
                <a:solidFill>
                  <a:schemeClr val="bg2"/>
                </a:solidFill>
              </a:rPr>
              <a:t>را سرسبز میسازد. دریای مهم دیگر این حوزه </a:t>
            </a:r>
            <a:r>
              <a:rPr lang="prs-AF" altLang="en-US" sz="2400" b="1" dirty="0">
                <a:solidFill>
                  <a:schemeClr val="bg2"/>
                </a:solidFill>
              </a:rPr>
              <a:t>دریای مرغاب </a:t>
            </a:r>
            <a:r>
              <a:rPr lang="prs-AF" altLang="en-US" sz="2400" dirty="0">
                <a:solidFill>
                  <a:schemeClr val="bg2"/>
                </a:solidFill>
              </a:rPr>
              <a:t>میباشد.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DFE08-A9BB-07FF-5D3F-9ED8F57DC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769" y="3429000"/>
            <a:ext cx="4448796" cy="2984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2418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7FE9081-8244-2688-34E4-2059CFA6F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algn="r" rtl="1"/>
            <a:r>
              <a:rPr lang="prs-AF" altLang="en-US" b="1" dirty="0">
                <a:solidFill>
                  <a:schemeClr val="tx1"/>
                </a:solidFill>
              </a:rPr>
              <a:t>دریاهای حوزه های بسته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242EE83C-6782-1D93-1AF2-725040BD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175" y="909638"/>
            <a:ext cx="7056438" cy="5832475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دریاهایی که </a:t>
            </a:r>
            <a:r>
              <a:rPr lang="prs-AF" altLang="en-US" sz="2400" b="1" dirty="0">
                <a:solidFill>
                  <a:schemeClr val="bg2"/>
                </a:solidFill>
              </a:rPr>
              <a:t>از مناطق مرتفع کوهستانی </a:t>
            </a:r>
            <a:r>
              <a:rPr lang="prs-AF" altLang="en-US" sz="2400" dirty="0">
                <a:solidFill>
                  <a:schemeClr val="bg2"/>
                </a:solidFill>
              </a:rPr>
              <a:t>سرچشمه گرفته و در یک </a:t>
            </a:r>
            <a:r>
              <a:rPr lang="prs-AF" altLang="en-US" sz="2400" b="1" dirty="0">
                <a:solidFill>
                  <a:schemeClr val="bg2"/>
                </a:solidFill>
              </a:rPr>
              <a:t>مسیر بسته جریان </a:t>
            </a:r>
            <a:r>
              <a:rPr lang="prs-AF" altLang="en-US" sz="2400" dirty="0">
                <a:solidFill>
                  <a:schemeClr val="bg2"/>
                </a:solidFill>
              </a:rPr>
              <a:t>دارند و با </a:t>
            </a:r>
            <a:r>
              <a:rPr lang="prs-AF" altLang="en-US" sz="2400" b="1" dirty="0">
                <a:solidFill>
                  <a:schemeClr val="bg2"/>
                </a:solidFill>
              </a:rPr>
              <a:t>دریای دیگری یکجا نمیشوند</a:t>
            </a:r>
            <a:r>
              <a:rPr lang="prs-AF" altLang="en-US" sz="2400" dirty="0">
                <a:solidFill>
                  <a:schemeClr val="bg2"/>
                </a:solidFill>
              </a:rPr>
              <a:t>، به نام دریاهای حوزۀ بسته یاد میشوند.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مانند </a:t>
            </a:r>
            <a:r>
              <a:rPr lang="prs-AF" altLang="en-US" sz="2400" b="1" dirty="0">
                <a:solidFill>
                  <a:schemeClr val="bg2"/>
                </a:solidFill>
              </a:rPr>
              <a:t>دریای غزنی </a:t>
            </a:r>
            <a:r>
              <a:rPr lang="prs-AF" altLang="en-US" sz="2400" dirty="0">
                <a:solidFill>
                  <a:schemeClr val="bg2"/>
                </a:solidFill>
              </a:rPr>
              <a:t>که بعد از عبور از شهر غزنی به آب ایستادۀ غزنی میریزد.</a:t>
            </a:r>
          </a:p>
          <a:p>
            <a:pPr algn="r" rtl="1">
              <a:buFont typeface="Wingdings" panose="05000000000000000000" pitchFamily="2" charset="2"/>
              <a:buChar char="ü"/>
            </a:pPr>
            <a:r>
              <a:rPr lang="prs-AF" altLang="en-US" sz="2400" dirty="0">
                <a:solidFill>
                  <a:schemeClr val="bg2"/>
                </a:solidFill>
              </a:rPr>
              <a:t> دریاهای دیگر این حوزه عبارت اند از: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دریای بلخاب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 دریای سمنگان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دریای اندخوی </a:t>
            </a:r>
          </a:p>
          <a:p>
            <a:pPr marL="914400" lvl="1" indent="-457200" algn="r" rtl="1">
              <a:buFont typeface="+mj-lt"/>
              <a:buAutoNum type="arabicPeriod"/>
            </a:pPr>
            <a:r>
              <a:rPr lang="prs-AF" altLang="en-US" sz="2000" dirty="0">
                <a:solidFill>
                  <a:schemeClr val="bg2"/>
                </a:solidFill>
              </a:rPr>
              <a:t>دریای قیصار.</a:t>
            </a:r>
            <a:endParaRPr lang="en-US" alt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1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BEE2B-CEBA-86CC-15BA-46BEB393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prs-AF" dirty="0"/>
              <a:t>کارخانگی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3DA81C-0832-8CBB-A33B-7BEEFBCFC5B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416BE8-FDF6-DD9C-B38F-EA0556568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514350" indent="-514350" algn="r" rtl="1">
              <a:buFont typeface="+mj-lt"/>
              <a:buAutoNum type="arabicPeriod"/>
            </a:pPr>
            <a:r>
              <a:rPr lang="prs-AF" sz="2400" dirty="0"/>
              <a:t> نوشتن درس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prs-AF" sz="2400" dirty="0"/>
              <a:t>حل تمرین درس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prs-AF" sz="2400" dirty="0"/>
              <a:t>اماده گی به درس جدید</a:t>
            </a:r>
          </a:p>
        </p:txBody>
      </p:sp>
    </p:spTree>
    <p:extLst>
      <p:ext uri="{BB962C8B-B14F-4D97-AF65-F5344CB8AC3E}">
        <p14:creationId xmlns:p14="http://schemas.microsoft.com/office/powerpoint/2010/main" val="323398058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8">
      <a:dk1>
        <a:srgbClr val="4D4D4D"/>
      </a:dk1>
      <a:lt1>
        <a:srgbClr val="FFFFFF"/>
      </a:lt1>
      <a:dk2>
        <a:srgbClr val="4D4D4D"/>
      </a:dk2>
      <a:lt2>
        <a:srgbClr val="393939"/>
      </a:lt2>
      <a:accent1>
        <a:srgbClr val="858585"/>
      </a:accent1>
      <a:accent2>
        <a:srgbClr val="939393"/>
      </a:accent2>
      <a:accent3>
        <a:srgbClr val="FFFFFF"/>
      </a:accent3>
      <a:accent4>
        <a:srgbClr val="404040"/>
      </a:accent4>
      <a:accent5>
        <a:srgbClr val="C2C2C2"/>
      </a:accent5>
      <a:accent6>
        <a:srgbClr val="858585"/>
      </a:accent6>
      <a:hlink>
        <a:srgbClr val="696969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11163C"/>
        </a:lt2>
        <a:accent1>
          <a:srgbClr val="212B53"/>
        </a:accent1>
        <a:accent2>
          <a:srgbClr val="364481"/>
        </a:accent2>
        <a:accent3>
          <a:srgbClr val="FFFFFF"/>
        </a:accent3>
        <a:accent4>
          <a:srgbClr val="404040"/>
        </a:accent4>
        <a:accent5>
          <a:srgbClr val="ABACB3"/>
        </a:accent5>
        <a:accent6>
          <a:srgbClr val="303D74"/>
        </a:accent6>
        <a:hlink>
          <a:srgbClr val="3E498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4D4D4D"/>
        </a:dk2>
        <a:lt2>
          <a:srgbClr val="0D254C"/>
        </a:lt2>
        <a:accent1>
          <a:srgbClr val="254B83"/>
        </a:accent1>
        <a:accent2>
          <a:srgbClr val="406DAA"/>
        </a:accent2>
        <a:accent3>
          <a:srgbClr val="FFFFFF"/>
        </a:accent3>
        <a:accent4>
          <a:srgbClr val="404040"/>
        </a:accent4>
        <a:accent5>
          <a:srgbClr val="ACB1C1"/>
        </a:accent5>
        <a:accent6>
          <a:srgbClr val="39629A"/>
        </a:accent6>
        <a:hlink>
          <a:srgbClr val="3267B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363B45"/>
        </a:lt2>
        <a:accent1>
          <a:srgbClr val="A99D9B"/>
        </a:accent1>
        <a:accent2>
          <a:srgbClr val="565A66"/>
        </a:accent2>
        <a:accent3>
          <a:srgbClr val="FFFFFF"/>
        </a:accent3>
        <a:accent4>
          <a:srgbClr val="404040"/>
        </a:accent4>
        <a:accent5>
          <a:srgbClr val="D1CCCB"/>
        </a:accent5>
        <a:accent6>
          <a:srgbClr val="4D515C"/>
        </a:accent6>
        <a:hlink>
          <a:srgbClr val="92715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B26920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D5B9AB"/>
        </a:accent5>
        <a:accent6>
          <a:srgbClr val="64727F"/>
        </a:accent6>
        <a:hlink>
          <a:srgbClr val="EEC72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9BB6EE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CBD7F5"/>
        </a:accent5>
        <a:accent6>
          <a:srgbClr val="64727F"/>
        </a:accent6>
        <a:hlink>
          <a:srgbClr val="84AAF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40494F"/>
        </a:lt2>
        <a:accent1>
          <a:srgbClr val="6D7D8A"/>
        </a:accent1>
        <a:accent2>
          <a:srgbClr val="A7A7A7"/>
        </a:accent2>
        <a:accent3>
          <a:srgbClr val="FFFFFF"/>
        </a:accent3>
        <a:accent4>
          <a:srgbClr val="404040"/>
        </a:accent4>
        <a:accent5>
          <a:srgbClr val="BABFC4"/>
        </a:accent5>
        <a:accent6>
          <a:srgbClr val="979797"/>
        </a:accent6>
        <a:hlink>
          <a:srgbClr val="7F7F7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4D4D4D"/>
        </a:dk2>
        <a:lt2>
          <a:srgbClr val="454D52"/>
        </a:lt2>
        <a:accent1>
          <a:srgbClr val="7D8B97"/>
        </a:accent1>
        <a:accent2>
          <a:srgbClr val="CBCBCB"/>
        </a:accent2>
        <a:accent3>
          <a:srgbClr val="FFFFFF"/>
        </a:accent3>
        <a:accent4>
          <a:srgbClr val="404040"/>
        </a:accent4>
        <a:accent5>
          <a:srgbClr val="BFC4C9"/>
        </a:accent5>
        <a:accent6>
          <a:srgbClr val="B8B8B8"/>
        </a:accent6>
        <a:hlink>
          <a:srgbClr val="5158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4D4D4D"/>
        </a:dk2>
        <a:lt2>
          <a:srgbClr val="393939"/>
        </a:lt2>
        <a:accent1>
          <a:srgbClr val="858585"/>
        </a:accent1>
        <a:accent2>
          <a:srgbClr val="939393"/>
        </a:accent2>
        <a:accent3>
          <a:srgbClr val="FFFFFF"/>
        </a:accent3>
        <a:accent4>
          <a:srgbClr val="404040"/>
        </a:accent4>
        <a:accent5>
          <a:srgbClr val="C2C2C2"/>
        </a:accent5>
        <a:accent6>
          <a:srgbClr val="858585"/>
        </a:accent6>
        <a:hlink>
          <a:srgbClr val="6969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4D4D4D"/>
        </a:dk2>
        <a:lt2>
          <a:srgbClr val="4F5056"/>
        </a:lt2>
        <a:accent1>
          <a:srgbClr val="7E7F8E"/>
        </a:accent1>
        <a:accent2>
          <a:srgbClr val="C0C1C5"/>
        </a:accent2>
        <a:accent3>
          <a:srgbClr val="FFFFFF"/>
        </a:accent3>
        <a:accent4>
          <a:srgbClr val="404040"/>
        </a:accent4>
        <a:accent5>
          <a:srgbClr val="C0C0C6"/>
        </a:accent5>
        <a:accent6>
          <a:srgbClr val="AEAFB2"/>
        </a:accent6>
        <a:hlink>
          <a:srgbClr val="ACAFB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4D4D4D"/>
        </a:dk2>
        <a:lt2>
          <a:srgbClr val="85978F"/>
        </a:lt2>
        <a:accent1>
          <a:srgbClr val="9DA499"/>
        </a:accent1>
        <a:accent2>
          <a:srgbClr val="A5B9BA"/>
        </a:accent2>
        <a:accent3>
          <a:srgbClr val="FFFFFF"/>
        </a:accent3>
        <a:accent4>
          <a:srgbClr val="404040"/>
        </a:accent4>
        <a:accent5>
          <a:srgbClr val="CCCFCA"/>
        </a:accent5>
        <a:accent6>
          <a:srgbClr val="95A7A8"/>
        </a:accent6>
        <a:hlink>
          <a:srgbClr val="ABB4A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4D4D4D"/>
        </a:dk2>
        <a:lt2>
          <a:srgbClr val="484847"/>
        </a:lt2>
        <a:accent1>
          <a:srgbClr val="7C7C74"/>
        </a:accent1>
        <a:accent2>
          <a:srgbClr val="AFB2AA"/>
        </a:accent2>
        <a:accent3>
          <a:srgbClr val="FFFFFF"/>
        </a:accent3>
        <a:accent4>
          <a:srgbClr val="404040"/>
        </a:accent4>
        <a:accent5>
          <a:srgbClr val="BFBFBC"/>
        </a:accent5>
        <a:accent6>
          <a:srgbClr val="9EA19A"/>
        </a:accent6>
        <a:hlink>
          <a:srgbClr val="D4D2C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512</Words>
  <Application>Microsoft Office PowerPoint</Application>
  <PresentationFormat>On-screen Show (4:3)</PresentationFormat>
  <Paragraphs>59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Tahoma</vt:lpstr>
      <vt:lpstr>Wingdings</vt:lpstr>
      <vt:lpstr>template</vt:lpstr>
      <vt:lpstr>دریا ها و جهیل های افغانستان</vt:lpstr>
      <vt:lpstr>دریاهای افغانستان به حيث منابع زراعتي و توليد انرژی </vt:lpstr>
      <vt:lpstr> دریاهای حوزۀ کابل</vt:lpstr>
      <vt:lpstr> دریاهای حوزۀ آمو</vt:lpstr>
      <vt:lpstr>دریاهای حوزۀ هلمند</vt:lpstr>
      <vt:lpstr>دریاهای حوزۀ هریرود</vt:lpstr>
      <vt:lpstr>دریاهای حوزه های بسته</vt:lpstr>
      <vt:lpstr>کارخانگی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دریا ها و جهیل های افغانستان</dc:title>
  <dc:creator>Saif Ur Rahman Quraishi</dc:creator>
  <cp:lastModifiedBy>Saif Ur Rahman Quraishi</cp:lastModifiedBy>
  <cp:revision>11</cp:revision>
  <dcterms:created xsi:type="dcterms:W3CDTF">2023-05-22T14:49:37Z</dcterms:created>
  <dcterms:modified xsi:type="dcterms:W3CDTF">2023-05-23T04:17:07Z</dcterms:modified>
</cp:coreProperties>
</file>